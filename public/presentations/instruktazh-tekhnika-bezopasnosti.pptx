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1" r:id="rId3"/>
    <p:sldId id="268" r:id="rId4"/>
    <p:sldId id="276" r:id="rId5"/>
    <p:sldId id="273" r:id="rId10"/>
    <p:sldId id="272" r:id="rId11"/>
    <p:sldId id="274" r:id="rId12"/>
    <p:sldId id="275" r:id="rId13"/>
    <p:sldId id="267" r:id="rId14"/>
  </p:sldIdLst>
  <p:sldSz cx="9144000" cy="5143500" type="screen16x9"/>
  <p:notesSz cx="6858000" cy="9144000"/>
  <p:embeddedFontLst>
    <p:embeddedFont>
      <p:font typeface="Noto Sans" panose="020B050204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92F4"/>
    <a:srgbClr val="C9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9119efd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9119efd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73CCE74-6479-7B76-7C88-8CC7A614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>
            <a:extLst>
              <a:ext uri="{FF2B5EF4-FFF2-40B4-BE49-F238E27FC236}">
                <a16:creationId xmlns:a16="http://schemas.microsoft.com/office/drawing/2014/main" id="{6C6B25F4-54B3-C629-349F-FC8C43BEE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>
            <a:extLst>
              <a:ext uri="{FF2B5EF4-FFF2-40B4-BE49-F238E27FC236}">
                <a16:creationId xmlns:a16="http://schemas.microsoft.com/office/drawing/2014/main" id="{5C8938A0-68F3-6856-02DC-9B3EDB9E3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896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E57A45F-1FE6-91AB-01DC-B2CC0442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119efdd_0_9:notes">
            <a:extLst>
              <a:ext uri="{FF2B5EF4-FFF2-40B4-BE49-F238E27FC236}">
                <a16:creationId xmlns:a16="http://schemas.microsoft.com/office/drawing/2014/main" id="{A6FC324D-D98A-8506-9DBD-D5F7695C3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119efdd_0_9:notes">
            <a:extLst>
              <a:ext uri="{FF2B5EF4-FFF2-40B4-BE49-F238E27FC236}">
                <a16:creationId xmlns:a16="http://schemas.microsoft.com/office/drawing/2014/main" id="{EA323621-B25C-166A-5222-44F3F47AD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708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861BE3D-8B0E-5734-EC6D-51823A5F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119efdd_0_9:notes">
            <a:extLst>
              <a:ext uri="{FF2B5EF4-FFF2-40B4-BE49-F238E27FC236}">
                <a16:creationId xmlns:a16="http://schemas.microsoft.com/office/drawing/2014/main" id="{E244A63A-B3A7-6AAF-BD3C-20489F841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119efdd_0_9:notes">
            <a:extLst>
              <a:ext uri="{FF2B5EF4-FFF2-40B4-BE49-F238E27FC236}">
                <a16:creationId xmlns:a16="http://schemas.microsoft.com/office/drawing/2014/main" id="{A5ACFF5E-BE0C-8E97-85AB-16A32662D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8278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36DD949-9BAF-5589-8589-2C2D1860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>
            <a:extLst>
              <a:ext uri="{FF2B5EF4-FFF2-40B4-BE49-F238E27FC236}">
                <a16:creationId xmlns:a16="http://schemas.microsoft.com/office/drawing/2014/main" id="{00F3904B-3B4E-B2FE-30C0-CF8B37A1F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>
            <a:extLst>
              <a:ext uri="{FF2B5EF4-FFF2-40B4-BE49-F238E27FC236}">
                <a16:creationId xmlns:a16="http://schemas.microsoft.com/office/drawing/2014/main" id="{1A618720-FAB2-E7A0-D0D5-047E17141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2871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4A3DE55-3FE9-C32C-DB44-68F6B30F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119efdd_0_9:notes">
            <a:extLst>
              <a:ext uri="{FF2B5EF4-FFF2-40B4-BE49-F238E27FC236}">
                <a16:creationId xmlns:a16="http://schemas.microsoft.com/office/drawing/2014/main" id="{BDECC502-9F44-8F43-6E12-A1B618BCD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119efdd_0_9:notes">
            <a:extLst>
              <a:ext uri="{FF2B5EF4-FFF2-40B4-BE49-F238E27FC236}">
                <a16:creationId xmlns:a16="http://schemas.microsoft.com/office/drawing/2014/main" id="{15ABDA3D-408E-59E7-1D02-0C27F3214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629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0B05C72-791A-5A3B-7475-5F841BE4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>
            <a:extLst>
              <a:ext uri="{FF2B5EF4-FFF2-40B4-BE49-F238E27FC236}">
                <a16:creationId xmlns:a16="http://schemas.microsoft.com/office/drawing/2014/main" id="{E0C4D423-E50F-F0A5-2719-2492789BB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>
            <a:extLst>
              <a:ext uri="{FF2B5EF4-FFF2-40B4-BE49-F238E27FC236}">
                <a16:creationId xmlns:a16="http://schemas.microsoft.com/office/drawing/2014/main" id="{CBA8636C-5433-C0B6-21CE-4DB33D163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48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1C6E8ED-B8E7-5323-B40D-387E54E93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119efdd_0_9:notes">
            <a:extLst>
              <a:ext uri="{FF2B5EF4-FFF2-40B4-BE49-F238E27FC236}">
                <a16:creationId xmlns:a16="http://schemas.microsoft.com/office/drawing/2014/main" id="{CD2BBA0A-07A6-7AAB-9825-5A112F25C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119efdd_0_9:notes">
            <a:extLst>
              <a:ext uri="{FF2B5EF4-FFF2-40B4-BE49-F238E27FC236}">
                <a16:creationId xmlns:a16="http://schemas.microsoft.com/office/drawing/2014/main" id="{E4EA8B8A-A1B8-0A46-8F75-C53929C01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9119ef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89119ef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27429" y="3326998"/>
            <a:ext cx="7270519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Организационная информация/ целевой инструктаж 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95651" y="4581450"/>
            <a:ext cx="3516000" cy="39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Алматы, </a:t>
            </a:r>
            <a:r>
              <a:rPr lang="ru-RU" sz="11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r>
              <a:rPr lang="en" sz="11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.09.2026</a:t>
            </a:r>
            <a:endParaRPr sz="1100" dirty="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84E2020-5149-D2D6-CD8C-4205EB8E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02b.png">
            <a:extLst>
              <a:ext uri="{FF2B5EF4-FFF2-40B4-BE49-F238E27FC236}">
                <a16:creationId xmlns:a16="http://schemas.microsoft.com/office/drawing/2014/main" id="{359B490B-DF76-AB2C-D8E3-4934B847BC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C1D25037-3573-9C43-9F2C-E1B184C6FEC6}"/>
              </a:ext>
            </a:extLst>
          </p:cNvPr>
          <p:cNvSpPr txBox="1"/>
          <p:nvPr/>
        </p:nvSpPr>
        <p:spPr>
          <a:xfrm>
            <a:off x="251774" y="1249900"/>
            <a:ext cx="3269025" cy="99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Чек лист, что важно не забыть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D5F6F0D-C9B1-4B47-9DE9-D77B9A2B8E4F}"/>
              </a:ext>
            </a:extLst>
          </p:cNvPr>
          <p:cNvSpPr txBox="1"/>
          <p:nvPr/>
        </p:nvSpPr>
        <p:spPr>
          <a:xfrm>
            <a:off x="283881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13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C866B7-774E-9C17-AA29-D1B0A655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04.png">
            <a:extLst>
              <a:ext uri="{FF2B5EF4-FFF2-40B4-BE49-F238E27FC236}">
                <a16:creationId xmlns:a16="http://schemas.microsoft.com/office/drawing/2014/main" id="{0EABE4E7-AE23-8F16-43F8-5AE32FFB16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5755E76-A02F-0E11-0D3D-D505C4327200}"/>
              </a:ext>
            </a:extLst>
          </p:cNvPr>
          <p:cNvSpPr txBox="1"/>
          <p:nvPr/>
        </p:nvSpPr>
        <p:spPr>
          <a:xfrm>
            <a:off x="1295774" y="191294"/>
            <a:ext cx="4917825" cy="59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Что важно не забыть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BE1F3C8-6952-C7C0-CDD5-447CCCDFD45F}"/>
              </a:ext>
            </a:extLst>
          </p:cNvPr>
          <p:cNvSpPr txBox="1"/>
          <p:nvPr/>
        </p:nvSpPr>
        <p:spPr>
          <a:xfrm>
            <a:off x="2148892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FE94C-AF42-C1FF-AAAE-DE0A67E50DE4}"/>
              </a:ext>
            </a:extLst>
          </p:cNvPr>
          <p:cNvSpPr txBox="1"/>
          <p:nvPr/>
        </p:nvSpPr>
        <p:spPr>
          <a:xfrm>
            <a:off x="111600" y="887089"/>
            <a:ext cx="786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" sz="800" b="1" dirty="0"/>
              <a:t>Документы</a:t>
            </a:r>
            <a:br>
              <a:rPr lang="" sz="800" dirty="0"/>
            </a:br>
            <a:r>
              <a:rPr lang="" sz="800" dirty="0"/>
              <a:t>• Удостоверение личности / паспорт</a:t>
            </a:r>
            <a:r>
              <a:rPr lang="ru-RU" sz="800" dirty="0"/>
              <a:t>, на который были выписаны билеты</a:t>
            </a:r>
            <a:r>
              <a:rPr lang="" sz="800" dirty="0"/>
              <a:t>.</a:t>
            </a:r>
            <a:endParaRPr lang="ru-RU" sz="800" dirty="0"/>
          </a:p>
          <a:p>
            <a:pPr>
              <a:buNone/>
            </a:pPr>
            <a:endParaRPr lang="ru-RU" sz="800" dirty="0"/>
          </a:p>
          <a:p>
            <a:pPr>
              <a:buNone/>
            </a:pPr>
            <a:r>
              <a:rPr lang="" sz="800" b="1" dirty="0"/>
              <a:t>Рабочие принадлежности</a:t>
            </a:r>
            <a:br>
              <a:rPr lang="" sz="800" dirty="0"/>
            </a:br>
            <a:r>
              <a:rPr lang="" sz="800" dirty="0"/>
              <a:t>• Ноутбук и зарядное устройство.</a:t>
            </a:r>
            <a:br>
              <a:rPr lang="" sz="800" dirty="0"/>
            </a:br>
            <a:r>
              <a:rPr lang="" sz="800" dirty="0"/>
              <a:t>• Телефон, </a:t>
            </a:r>
            <a:r>
              <a:rPr lang="ru-RU" sz="800" dirty="0"/>
              <a:t>зарядное устройство, </a:t>
            </a:r>
            <a:r>
              <a:rPr lang="" sz="800" dirty="0"/>
              <a:t>наушники и другие необходимые аксессуары.</a:t>
            </a:r>
            <a:br>
              <a:rPr lang="" sz="800" dirty="0"/>
            </a:br>
            <a:r>
              <a:rPr lang="" sz="800" dirty="0"/>
              <a:t>• Важные рабочие документы сохраните в электронном виде и, при необходимости, возьмите распечатанные копии.</a:t>
            </a:r>
            <a:endParaRPr lang="ru-RU" sz="800" dirty="0"/>
          </a:p>
          <a:p>
            <a:pPr>
              <a:buNone/>
            </a:pPr>
            <a:endParaRPr lang="" sz="800" dirty="0"/>
          </a:p>
          <a:p>
            <a:pPr>
              <a:buNone/>
            </a:pPr>
            <a:r>
              <a:rPr lang="" sz="800" b="1" dirty="0"/>
              <a:t>Связь</a:t>
            </a:r>
            <a:br>
              <a:rPr lang="" sz="800" dirty="0"/>
            </a:br>
            <a:r>
              <a:rPr lang="" sz="800" dirty="0"/>
              <a:t>• Полностью зарядите телефон перед вылетом.</a:t>
            </a:r>
            <a:br>
              <a:rPr lang="" sz="800" dirty="0"/>
            </a:br>
            <a:r>
              <a:rPr lang="" sz="800" dirty="0"/>
              <a:t>• По возможности возьмите power bank.</a:t>
            </a:r>
            <a:br>
              <a:rPr lang="" sz="800" dirty="0"/>
            </a:br>
            <a:r>
              <a:rPr lang="" sz="800" dirty="0"/>
              <a:t>• Сохраните номера телефонов организаторов и контактных лиц на случай необходимости.</a:t>
            </a:r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" sz="800" b="1" dirty="0"/>
              <a:t>Здоровье</a:t>
            </a:r>
            <a:br>
              <a:rPr lang="" sz="800" dirty="0"/>
            </a:br>
            <a:r>
              <a:rPr lang="" sz="800" dirty="0"/>
              <a:t>• Не забудьте личные медикаменты и необходимые лекарственные препараты.</a:t>
            </a:r>
            <a:br>
              <a:rPr lang="" sz="800" dirty="0"/>
            </a:br>
            <a:r>
              <a:rPr lang="" sz="800" dirty="0"/>
              <a:t>• Если перед поездкой вы чувствуете себя плохо, </a:t>
            </a:r>
            <a:r>
              <a:rPr lang="" sz="800" b="1" dirty="0"/>
              <a:t>обязательно сообщите своему руководителю</a:t>
            </a:r>
            <a:r>
              <a:rPr lang="" sz="800" dirty="0"/>
              <a:t>. В зависимости от состояния здоровья будет принято соответствующее решение по поездке.</a:t>
            </a:r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" sz="800" b="1" dirty="0"/>
              <a:t>Финансы</a:t>
            </a:r>
            <a:br>
              <a:rPr lang="" sz="800" dirty="0"/>
            </a:br>
            <a:r>
              <a:rPr lang="" sz="800" dirty="0"/>
              <a:t>• Возьмите банковские карты и необходимую сумму наличных денежных средств.</a:t>
            </a:r>
            <a:endParaRPr lang="ru-RU" sz="800" dirty="0"/>
          </a:p>
          <a:p>
            <a:pPr>
              <a:buNone/>
            </a:pPr>
            <a:endParaRPr lang="ru-RU" sz="800" dirty="0"/>
          </a:p>
          <a:p>
            <a:r>
              <a:rPr lang="" sz="800" b="1" dirty="0"/>
              <a:t>Погода и личные вещи</a:t>
            </a:r>
            <a:br>
              <a:rPr lang="" sz="800" dirty="0"/>
            </a:br>
            <a:r>
              <a:rPr lang="" sz="800" dirty="0"/>
              <a:t>• Заранее проверьте прогноз погоды в Боровом.</a:t>
            </a:r>
            <a:br>
              <a:rPr lang="" sz="800" dirty="0"/>
            </a:br>
            <a:r>
              <a:rPr lang="" sz="800" dirty="0"/>
              <a:t>• Подготовьте одежду и обувь, соответствующие погодным условиям.</a:t>
            </a:r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ru-RU" sz="800" b="1" dirty="0"/>
              <a:t>Одежда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800" dirty="0"/>
              <a:t>Для конференции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800" b="1" dirty="0"/>
              <a:t>Комфортная и удобная одежда для активного тимбилдинга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800" dirty="0"/>
              <a:t>Наряд на гала ужин</a:t>
            </a:r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" sz="800" b="1" dirty="0"/>
              <a:t>Перед выездом из дома</a:t>
            </a:r>
            <a:br>
              <a:rPr lang="" sz="800" dirty="0"/>
            </a:br>
            <a:r>
              <a:rPr lang="" sz="800" dirty="0"/>
              <a:t>Ещё раз проверьте наличие паспорта, билетов, телефона, ноутбука, зарядных устройств, лекарств и других необходимых вещей.</a:t>
            </a:r>
          </a:p>
        </p:txBody>
      </p:sp>
    </p:spTree>
    <p:extLst>
      <p:ext uri="{BB962C8B-B14F-4D97-AF65-F5344CB8AC3E}">
        <p14:creationId xmlns:p14="http://schemas.microsoft.com/office/powerpoint/2010/main" val="318062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F73453E-61D3-7CA9-FE42-B473F618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04.png">
            <a:extLst>
              <a:ext uri="{FF2B5EF4-FFF2-40B4-BE49-F238E27FC236}">
                <a16:creationId xmlns:a16="http://schemas.microsoft.com/office/drawing/2014/main" id="{40933FF8-D927-93D0-B875-9C1C80CA69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E7DF5CF-68E5-5E67-9E17-195EDA3B6082}"/>
              </a:ext>
            </a:extLst>
          </p:cNvPr>
          <p:cNvSpPr txBox="1"/>
          <p:nvPr/>
        </p:nvSpPr>
        <p:spPr>
          <a:xfrm>
            <a:off x="1295774" y="191294"/>
            <a:ext cx="4917825" cy="59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Что важно не забыть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A0992853-4E2C-730B-45C8-E8598E8B3CFF}"/>
              </a:ext>
            </a:extLst>
          </p:cNvPr>
          <p:cNvSpPr txBox="1"/>
          <p:nvPr/>
        </p:nvSpPr>
        <p:spPr>
          <a:xfrm>
            <a:off x="2148892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 dirty="0">
              <a:solidFill>
                <a:schemeClr val="dk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665B1-20DC-7EA0-F0E3-4D58AAABC7A2}"/>
              </a:ext>
            </a:extLst>
          </p:cNvPr>
          <p:cNvSpPr txBox="1"/>
          <p:nvPr/>
        </p:nvSpPr>
        <p:spPr>
          <a:xfrm>
            <a:off x="145976" y="885358"/>
            <a:ext cx="85098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b="1" dirty="0"/>
              <a:t> В ДОРОГЕ И В ОТЕЛЕ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В аэропорту и на борту — слушаемся экипаж, в трансфере  — куратора группы. Трансфер около 3 часов. </a:t>
            </a:r>
          </a:p>
          <a:p>
            <a:r>
              <a:rPr lang="" sz="800" dirty="0"/>
              <a:t>• </a:t>
            </a:r>
            <a:r>
              <a:rPr lang="ru-RU" sz="800" dirty="0"/>
              <a:t>Самостоятельно за руль в рамках поездки — только с разрешения руководителя.</a:t>
            </a:r>
          </a:p>
          <a:p>
            <a:r>
              <a:rPr lang="" sz="800" dirty="0"/>
              <a:t>• </a:t>
            </a:r>
            <a:r>
              <a:rPr lang="ru-RU" sz="800" dirty="0"/>
              <a:t>Заселились — сразу отметьте, где выходы, лестницы и место сбора при эвакуации.</a:t>
            </a:r>
          </a:p>
          <a:p>
            <a:r>
              <a:rPr lang="" sz="800" dirty="0"/>
              <a:t>• </a:t>
            </a:r>
            <a:r>
              <a:rPr lang="ru-RU" sz="800" dirty="0"/>
              <a:t>Если обнаружили неисправность или повреждение в номере — сразу сообщите на ресепшен, чтобы зафиксировать это до начала проживания.</a:t>
            </a:r>
          </a:p>
          <a:p>
            <a:r>
              <a:rPr lang="" sz="800" dirty="0"/>
              <a:t>• </a:t>
            </a:r>
            <a:r>
              <a:rPr lang="ru-RU" sz="800" dirty="0"/>
              <a:t>Мини-бар будет закрыт, он не неисправен</a:t>
            </a:r>
            <a:r>
              <a:rPr lang="ru-RU" sz="800" dirty="0">
                <a:sym typeface="Wingdings" panose="05000000000000000000" pitchFamily="2" charset="2"/>
              </a:rPr>
              <a:t></a:t>
            </a:r>
            <a:r>
              <a:rPr lang="ru-RU" sz="800" dirty="0"/>
              <a:t>. </a:t>
            </a:r>
          </a:p>
          <a:p>
            <a:r>
              <a:rPr lang="" sz="800" dirty="0"/>
              <a:t>• </a:t>
            </a:r>
            <a:r>
              <a:rPr lang="ru-RU" sz="800" dirty="0"/>
              <a:t>Соблюдаем правила отеля и требования сотрудников службы безопасности.</a:t>
            </a:r>
          </a:p>
          <a:p>
            <a:r>
              <a:rPr lang="" sz="800" dirty="0"/>
              <a:t>• </a:t>
            </a:r>
            <a:r>
              <a:rPr lang="ru-RU" sz="800" dirty="0"/>
              <a:t>Не оставляем ценные вещи и рабочие устройства без присмотра.</a:t>
            </a:r>
          </a:p>
          <a:p>
            <a:pPr>
              <a:buNone/>
            </a:pPr>
            <a:endParaRPr lang="ru-RU" sz="800" dirty="0"/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ru-RU" sz="800" b="1" dirty="0"/>
              <a:t>НА КОНФЕРЕНЦИИ И ТИМБИЛДИНГЕ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На активностях на природе — держимся маршрута и программы: водоёмы, высота, скользкие тропы — только в рамках программы. У каждой группы будет координатор.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Не покидаем место проведения организованной активности без уведомления ответственного</a:t>
            </a:r>
            <a:r>
              <a:rPr lang="" sz="800" dirty="0"/>
              <a:t>.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Алкоголь и наркотические вещества в рамках ЦК, конечно же!, запрещены</a:t>
            </a:r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ru-RU" sz="800" b="1" dirty="0"/>
              <a:t>ЕСЛИ ЧТО-ТО ПОШЛО НЕ ТАК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Пожар / сигнализация — эвакуация, звонок 101 или 112.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Плохо себя чувствуете, травма, любое происшествие — скорая 103, и сразу сообщаем руководителю и/или Руководителю Службы: обстоятельства + где находитесь.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Увидели происшествие с коллегой — тоже сообщаем.</a:t>
            </a:r>
          </a:p>
          <a:p>
            <a:pPr>
              <a:buNone/>
            </a:pPr>
            <a:endParaRPr lang="ru-RU" sz="800" b="1" dirty="0"/>
          </a:p>
          <a:p>
            <a:endParaRPr lang="ru-RU" sz="800" b="1" dirty="0"/>
          </a:p>
          <a:p>
            <a:r>
              <a:rPr lang="ru-RU" sz="800" b="1" dirty="0"/>
              <a:t>В ЛИЧНОЕ ВРЕМЯ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Пусть всегда кто-то будет в курсе, где вы. 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Правила безопасного поведения.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Происшествия в личное время – происшествие в командировке. Вы – Руководитель – Я – Генеральный директор. </a:t>
            </a:r>
          </a:p>
          <a:p>
            <a:pPr>
              <a:buNone/>
            </a:pPr>
            <a:endParaRPr lang="" sz="800" dirty="0"/>
          </a:p>
          <a:p>
            <a:pPr>
              <a:buNone/>
            </a:pPr>
            <a:endParaRPr lang="ru-RU" sz="800" b="1" dirty="0"/>
          </a:p>
          <a:p>
            <a:r>
              <a:rPr lang="ru-RU" sz="800" b="1" dirty="0"/>
              <a:t>ЦЕЛЕВОЙ ИНСТРУКТАЖ под роспись </a:t>
            </a:r>
            <a:r>
              <a:rPr lang="ru-RU" sz="800" b="1"/>
              <a:t>в журналах 21.09.</a:t>
            </a:r>
            <a:br>
              <a:rPr lang="" sz="800" dirty="0"/>
            </a:br>
            <a:r>
              <a:rPr lang="" sz="800" dirty="0"/>
              <a:t>• </a:t>
            </a:r>
            <a:r>
              <a:rPr lang="ru-RU" sz="800" dirty="0"/>
              <a:t>Медицинские представители — пройти инструктаж у региональных менеджеров и распишутся в журналах регистрации по БИОТ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Группа по транспортной и складской логистике — у Заведующего складом</a:t>
            </a:r>
          </a:p>
          <a:p>
            <a:pPr>
              <a:buNone/>
            </a:pPr>
            <a:r>
              <a:rPr lang="" sz="800" dirty="0"/>
              <a:t>• </a:t>
            </a:r>
            <a:r>
              <a:rPr lang="ru-RU" sz="800" dirty="0"/>
              <a:t>Все остальные – у меня</a:t>
            </a:r>
          </a:p>
          <a:p>
            <a:pPr>
              <a:buNone/>
            </a:pPr>
            <a:endParaRPr lang="ru-RU" sz="800" b="1" dirty="0"/>
          </a:p>
        </p:txBody>
      </p:sp>
    </p:spTree>
    <p:extLst>
      <p:ext uri="{BB962C8B-B14F-4D97-AF65-F5344CB8AC3E}">
        <p14:creationId xmlns:p14="http://schemas.microsoft.com/office/powerpoint/2010/main" val="223512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E66A7089-CBD8-1863-BAEF-D5158939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02b.png">
            <a:extLst>
              <a:ext uri="{FF2B5EF4-FFF2-40B4-BE49-F238E27FC236}">
                <a16:creationId xmlns:a16="http://schemas.microsoft.com/office/drawing/2014/main" id="{BC28D67D-4F52-CF9F-5DFE-9EF3875654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3BF4C5C-C1A6-D30F-555F-1CE909834E81}"/>
              </a:ext>
            </a:extLst>
          </p:cNvPr>
          <p:cNvSpPr txBox="1"/>
          <p:nvPr/>
        </p:nvSpPr>
        <p:spPr>
          <a:xfrm>
            <a:off x="251774" y="1249900"/>
            <a:ext cx="3269025" cy="99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Контакты организаторов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009F32A-1D94-438E-D66B-C6CD552B825B}"/>
              </a:ext>
            </a:extLst>
          </p:cNvPr>
          <p:cNvSpPr txBox="1"/>
          <p:nvPr/>
        </p:nvSpPr>
        <p:spPr>
          <a:xfrm>
            <a:off x="283881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94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0150FD4-8D0C-F4BE-A4D1-7366D1E2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04.png">
            <a:extLst>
              <a:ext uri="{FF2B5EF4-FFF2-40B4-BE49-F238E27FC236}">
                <a16:creationId xmlns:a16="http://schemas.microsoft.com/office/drawing/2014/main" id="{4D05D757-9145-4FAD-BD1A-94F3F5ADD7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D08D2B4-8C60-CFE3-D260-35E2E7DD7EC3}"/>
              </a:ext>
            </a:extLst>
          </p:cNvPr>
          <p:cNvSpPr txBox="1"/>
          <p:nvPr/>
        </p:nvSpPr>
        <p:spPr>
          <a:xfrm>
            <a:off x="1295774" y="191294"/>
            <a:ext cx="4917825" cy="59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Что важно не забыть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135F290-2EC7-2AA1-7CFE-641E830D100E}"/>
              </a:ext>
            </a:extLst>
          </p:cNvPr>
          <p:cNvSpPr txBox="1"/>
          <p:nvPr/>
        </p:nvSpPr>
        <p:spPr>
          <a:xfrm>
            <a:off x="2148892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36A83-8BF1-32A2-D0B2-934E24258124}"/>
              </a:ext>
            </a:extLst>
          </p:cNvPr>
          <p:cNvSpPr txBox="1"/>
          <p:nvPr/>
        </p:nvSpPr>
        <p:spPr>
          <a:xfrm>
            <a:off x="198000" y="1049919"/>
            <a:ext cx="822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900" b="1" dirty="0"/>
              <a:t>Первое контактное лицо – Линейный руководитель </a:t>
            </a:r>
          </a:p>
          <a:p>
            <a:pPr>
              <a:buNone/>
            </a:pPr>
            <a:endParaRPr lang="ru-RU" sz="900" b="1" dirty="0"/>
          </a:p>
          <a:p>
            <a:pPr>
              <a:buNone/>
            </a:pPr>
            <a:r>
              <a:rPr lang="ru-RU" sz="900" b="1" dirty="0"/>
              <a:t>Организатор конференции (логистика, питание, проживание, </a:t>
            </a:r>
            <a:r>
              <a:rPr lang="ru-RU" sz="900" b="1" dirty="0" err="1"/>
              <a:t>конференц</a:t>
            </a:r>
            <a:r>
              <a:rPr lang="ru-RU" sz="900" b="1" dirty="0"/>
              <a:t> залы)</a:t>
            </a:r>
          </a:p>
          <a:p>
            <a:pPr>
              <a:buNone/>
            </a:pPr>
            <a:endParaRPr lang="ru-RU" sz="900" b="1" dirty="0"/>
          </a:p>
          <a:p>
            <a:pPr>
              <a:buNone/>
            </a:pPr>
            <a:r>
              <a:rPr lang="ru-RU" sz="900" b="1" dirty="0"/>
              <a:t>Менеджер по вопросам административного обеспечения, безопасности и охраны труда (аптечка, интриги, скандалы, расследования)</a:t>
            </a:r>
          </a:p>
          <a:p>
            <a:pPr>
              <a:buNone/>
            </a:pPr>
            <a:endParaRPr lang="ru-RU" sz="900" dirty="0"/>
          </a:p>
          <a:p>
            <a:pPr>
              <a:buNone/>
            </a:pPr>
            <a:r>
              <a:rPr lang="ru-RU" sz="900" b="1" dirty="0"/>
              <a:t>Ресепшен отеля</a:t>
            </a:r>
          </a:p>
          <a:p>
            <a:pPr>
              <a:buNone/>
            </a:pPr>
            <a:r>
              <a:rPr lang="ru-RU" sz="900" dirty="0"/>
              <a:t>Вопросы по номерам</a:t>
            </a:r>
          </a:p>
          <a:p>
            <a:pPr>
              <a:buNone/>
            </a:pPr>
            <a:endParaRPr lang="ru-RU" sz="900" b="1" dirty="0"/>
          </a:p>
          <a:p>
            <a:pPr>
              <a:buNone/>
            </a:pPr>
            <a:endParaRPr lang="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0AA19-117F-422D-634F-F2921EF5261D}"/>
              </a:ext>
            </a:extLst>
          </p:cNvPr>
          <p:cNvSpPr txBox="1"/>
          <p:nvPr/>
        </p:nvSpPr>
        <p:spPr>
          <a:xfrm>
            <a:off x="86921" y="4096909"/>
            <a:ext cx="89701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ru-RU" sz="800" b="1" dirty="0"/>
          </a:p>
          <a:p>
            <a:pPr>
              <a:buNone/>
            </a:pPr>
            <a:endParaRPr lang="ru-RU" sz="800" b="1" dirty="0"/>
          </a:p>
          <a:p>
            <a:pPr>
              <a:buNone/>
            </a:pPr>
            <a:r>
              <a:rPr lang="ru-RU" sz="800" b="1" dirty="0">
                <a:solidFill>
                  <a:srgbClr val="FF0000"/>
                </a:solidFill>
              </a:rPr>
              <a:t>ВАЖНО:</a:t>
            </a:r>
          </a:p>
          <a:p>
            <a:pPr>
              <a:buNone/>
            </a:pPr>
            <a:r>
              <a:rPr lang="" sz="800" b="1" dirty="0"/>
              <a:t>Будьте на связи с руководителем на протяжении всей поездки и держите его в курсе основных этапов поездки. При возникновении любых нештатных ситуаций или непредвиденных обстоятельств незамедлительно сообщите своему руководителю.</a:t>
            </a:r>
            <a:endParaRPr lang="" sz="800" dirty="0"/>
          </a:p>
        </p:txBody>
      </p:sp>
    </p:spTree>
    <p:extLst>
      <p:ext uri="{BB962C8B-B14F-4D97-AF65-F5344CB8AC3E}">
        <p14:creationId xmlns:p14="http://schemas.microsoft.com/office/powerpoint/2010/main" val="2872719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E69205AD-B7F2-3002-4B76-228FA8B0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02b.png">
            <a:extLst>
              <a:ext uri="{FF2B5EF4-FFF2-40B4-BE49-F238E27FC236}">
                <a16:creationId xmlns:a16="http://schemas.microsoft.com/office/drawing/2014/main" id="{948F58D9-F848-FBE3-5F7A-79DBA4D726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D73C256A-220D-A974-963A-C291929520C0}"/>
              </a:ext>
            </a:extLst>
          </p:cNvPr>
          <p:cNvSpPr txBox="1"/>
          <p:nvPr/>
        </p:nvSpPr>
        <p:spPr>
          <a:xfrm>
            <a:off x="251774" y="1249900"/>
            <a:ext cx="3269025" cy="99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Программа конференции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D3021BE-B2E9-3509-D121-BADC4B0C0C45}"/>
              </a:ext>
            </a:extLst>
          </p:cNvPr>
          <p:cNvSpPr txBox="1"/>
          <p:nvPr/>
        </p:nvSpPr>
        <p:spPr>
          <a:xfrm>
            <a:off x="283881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87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8ED59C3-5C5B-CF8A-A48D-54CF2CBB7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04.png">
            <a:extLst>
              <a:ext uri="{FF2B5EF4-FFF2-40B4-BE49-F238E27FC236}">
                <a16:creationId xmlns:a16="http://schemas.microsoft.com/office/drawing/2014/main" id="{D223F437-7582-8AF2-EFED-CCEE14FED5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9CA220A-8C5B-1967-1600-998B1CC92E2D}"/>
              </a:ext>
            </a:extLst>
          </p:cNvPr>
          <p:cNvSpPr txBox="1"/>
          <p:nvPr/>
        </p:nvSpPr>
        <p:spPr>
          <a:xfrm>
            <a:off x="1295774" y="191294"/>
            <a:ext cx="4917825" cy="59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Программа конференции</a:t>
            </a:r>
            <a:endParaRPr sz="24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7563D4F9-F735-9C73-C752-45D004BD0FDD}"/>
              </a:ext>
            </a:extLst>
          </p:cNvPr>
          <p:cNvSpPr txBox="1"/>
          <p:nvPr/>
        </p:nvSpPr>
        <p:spPr>
          <a:xfrm>
            <a:off x="2148892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2"/>
                </a:solidFill>
              </a:rPr>
              <a:t>Confidential — For Internal Use Only — Do Not Distribute Externally</a:t>
            </a:r>
            <a:endParaRPr sz="1000" i="1">
              <a:solidFill>
                <a:schemeClr val="dk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F8434-3543-708D-D0AE-2523A2568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800" y="1142791"/>
            <a:ext cx="3026145" cy="351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8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 title="04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/>
        </p:nvSpPr>
        <p:spPr>
          <a:xfrm>
            <a:off x="100" y="2247825"/>
            <a:ext cx="914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СПАСИБО ЗА ВНИМАНИЕ!</a:t>
            </a:r>
            <a:endParaRPr sz="3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148892" y="4804800"/>
            <a:ext cx="517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lt1"/>
                </a:solidFill>
              </a:rPr>
              <a:t>Confidential — For Internal Use Only — Do Not Distribute Externally</a:t>
            </a:r>
            <a:endParaRPr sz="1000" i="1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34B81-463E-0949-1426-2B8B77CA519D}"/>
              </a:ext>
            </a:extLst>
          </p:cNvPr>
          <p:cNvSpPr txBox="1"/>
          <p:nvPr/>
        </p:nvSpPr>
        <p:spPr>
          <a:xfrm>
            <a:off x="1278000" y="3334125"/>
            <a:ext cx="65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" sz="2000" b="1" dirty="0">
                <a:solidFill>
                  <a:schemeClr val="bg1"/>
                </a:solidFill>
              </a:rPr>
              <a:t>Берегите себя, хорошего полёта и до скорой встречи в Боровом!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1831</Words>
  <Application>Microsoft Office PowerPoint</Application>
  <PresentationFormat>On-screen Show (16:9)</PresentationFormat>
  <Paragraphs>289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Wingdings</vt:lpstr>
      <vt:lpstr>Noto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5</cp:revision>
  <dcterms:modified xsi:type="dcterms:W3CDTF">2026-09-18T13:11:58Z</dcterms:modified>
  <dc:title>Инструктаж</dc:title>
</cp:coreProperties>
</file>